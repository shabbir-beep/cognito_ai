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1148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SMART INDIA HACKATHON 2026</a:t>
            </a:r>
          </a:p>
          <a:p>
            <a:pPr algn="ctr">
              <a:defRPr sz="1700" b="1">
                <a:solidFill>
                  <a:srgbClr val="0284C7"/>
                </a:solidFill>
                <a:latin typeface="Georgia"/>
              </a:defRPr>
            </a:pPr>
            <a:r>
              <a:t>SOVEREIGN ON-PREMISE</a:t>
            </a:r>
            <a:br/>
            <a:r>
              <a:t>AGENTIC AI WORKBENCH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9784080" y="32004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Problem Statement ID: SIH26117</a:t>
            </a:r>
          </a:p>
          <a:p>
            <a:pPr>
              <a:spcAft>
                <a:spcPts val="700"/>
              </a:spcAft>
              <a:defRPr sz="950" b="0">
                <a:solidFill>
                  <a:srgbClr val="0F172A"/>
                </a:solidFill>
                <a:latin typeface="Arial"/>
              </a:defRPr>
            </a:pPr>
            <a:r>
              <a:t>• Problem Statement Title: Sovereign On-Premise Agentic AI Workbench using Open-Weight Multimodal LLMs for Confidential Industrial Work</a:t>
            </a:r>
          </a:p>
          <a:p>
            <a:pPr>
              <a:spcAft>
                <a:spcPts val="7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Organization: Mangalore Refinery and Petrochemicals Limited (MRPL)</a:t>
            </a:r>
          </a:p>
          <a:p>
            <a:pPr>
              <a:spcAft>
                <a:spcPts val="700"/>
              </a:spcAft>
              <a:defRPr sz="950" b="0">
                <a:solidFill>
                  <a:srgbClr val="0F172A"/>
                </a:solidFill>
                <a:latin typeface="Arial"/>
              </a:defRPr>
            </a:pPr>
            <a:r>
              <a:t>• Theme &amp; Category: Smart Automation  |  Software</a:t>
            </a:r>
          </a:p>
          <a:p>
            <a:pPr>
              <a:spcAft>
                <a:spcPts val="700"/>
              </a:spcAft>
              <a:defRPr sz="950" b="0">
                <a:solidFill>
                  <a:srgbClr val="0F172A"/>
                </a:solidFill>
                <a:latin typeface="Arial"/>
              </a:defRPr>
            </a:pPr>
            <a:r>
              <a:t>• Team ID &amp; Name: [To be updated / Registered Team ID] — [Registered Team Name]</a:t>
            </a:r>
          </a:p>
          <a:p>
            <a:pPr>
              <a:spcAft>
                <a:spcPts val="700"/>
              </a:spcAft>
              <a:defRPr sz="950" b="0">
                <a:solidFill>
                  <a:srgbClr val="0F172A"/>
                </a:solidFill>
                <a:latin typeface="Arial"/>
              </a:defRPr>
            </a:pPr>
            <a:r>
              <a:t>• Tech Stack: Python 3.10-3.14 (Multithreaded Server), PyWebView SPA (HTML5/CSS3/JS), Standalone Embedded Ollama (Port 11434), ReportLab PDF, python-docx, openpyxl</a:t>
            </a:r>
          </a:p>
          <a:p>
            <a:pPr>
              <a:spcAft>
                <a:spcPts val="700"/>
              </a:spcAft>
              <a:defRPr sz="950" b="0">
                <a:solidFill>
                  <a:srgbClr val="0F172A"/>
                </a:solidFill>
                <a:latin typeface="Arial"/>
              </a:defRPr>
            </a:pPr>
            <a:r>
              <a:t>• Deployment: Zero-Install Single-File Portable Windows Executable (SovereignAIWorkbench.exe, ~21MB) with self-contained data/ folder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83080"/>
            <a:ext cx="493776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A580C"/>
                </a:solidFill>
                <a:latin typeface="Arial"/>
              </a:defRPr>
            </a:pPr>
            <a:r>
              <a:t>📊 [CHART DATA] HARDWARE VRAM FIT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2240280"/>
          <a:ext cx="4663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82880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Model Tier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Size / VRAM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Target Hardware / Fit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Qwen2.5 (0.5B - 1.5B)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0.4 - 1.0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🟢 Full GPU on 2GB GT 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Phi-3.5 / Llama-3.2 (3B)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1.9 - 2.2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⚡ Hybrid GPU (2GB) +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Qwen2.5-Coder / R1 (7B)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4.7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🟢 Full GPU on 6GB RTX 3060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DeepSeek-R1 / Phi-4 (14B)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9.0 - 9.1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🟢 Full GPU on 12GB RTX 4070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Llama-3.3 (70B Q4)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42.0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E293B"/>
                          </a:solidFill>
                        </a:defRPr>
                      </a:pPr>
                      <a:r>
                        <a:t>🏢 Multi-GPU Workstation /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47091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• Auto-Scoring Formula: Memory (GB) = (Params * 0.65) + 0.8 GB</a:t>
            </a:r>
            <a:br/>
            <a:r>
              <a:t>• Zero-Install Binary: SovereignAIWorkbench.exe (20.87 MB)</a:t>
            </a:r>
            <a:br/>
            <a:r>
              <a:t>• Windows Job Object (0x2000): 0 MB leftover VRAM on exit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4747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SOVEREIGN AI WORKBENCH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2743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|  Mangalore Refinery and Petrochemicals Limited (MRPL)                                 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THE PROBLEM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Confidential refinery telemetry across Hydrocracker Unit-4, FCCU, and Crude Distillation units, P&amp;IDs, relief valve inspection notes (PSV-102A), MAWP calculations, and control code cannot leave premises. Public cloud LLMs create severe data leakage risks, while manual SOP cross-referencing causes massive clearance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3200400" cy="594360"/>
          </a:xfrm>
          <a:prstGeom prst="roundRect">
            <a:avLst/>
          </a:prstGeom>
          <a:solidFill>
            <a:srgbClr val="FDF2F8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DB2777"/>
                </a:solidFill>
              </a:defRPr>
            </a:pPr>
            <a:r>
              <a:t>Data Confidentiality Gap</a:t>
            </a:r>
          </a:p>
          <a:p>
            <a:pPr>
              <a:defRPr sz="720">
                <a:solidFill>
                  <a:srgbClr val="334155"/>
                </a:solidFill>
              </a:defRPr>
            </a:pPr>
            <a:r>
              <a:t>Industrial telemetry &amp; P&amp;IDs cannot leave refinery premises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8620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THE PROPOSED SOLUTION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A 100% self-hosted, portable AI workbench executing on the organization's own workstation or GPU server. It plans multi-step work, executes local file parsing tools, dynamically selects among 32 installed open-weight models, understands P&amp;ID drawings, and delivers usable Word/PDF deliverables with verifiable zero external network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760720"/>
            <a:ext cx="320040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1D4ED8"/>
                </a:solidFill>
              </a:defRPr>
            </a:pPr>
            <a:r>
              <a:t>Secure Data Processing</a:t>
            </a:r>
          </a:p>
          <a:p>
            <a:pPr>
              <a:defRPr sz="720">
                <a:solidFill>
                  <a:srgbClr val="334155"/>
                </a:solidFill>
              </a:defRPr>
            </a:pPr>
            <a:r>
              <a:t>Executive Word &amp; PDF files generated with 0 external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2344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🎡 [WHEEL CHART] 6 AGENTIC PILLARS</a:t>
            </a:r>
          </a:p>
        </p:txBody>
      </p:sp>
      <p:sp>
        <p:nvSpPr>
          <p:cNvPr id="12" name="Oval 11"/>
          <p:cNvSpPr/>
          <p:nvPr/>
        </p:nvSpPr>
        <p:spPr>
          <a:xfrm>
            <a:off x="5120640" y="3108960"/>
            <a:ext cx="1645920" cy="1645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Self-Hosted</a:t>
            </a:r>
            <a:br/>
            <a:r>
              <a:t>AI</a:t>
            </a:r>
            <a:br/>
            <a:r>
              <a:t>Workbench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256032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EA580C"/>
                </a:solidFill>
              </a:defRPr>
            </a:pPr>
            <a:r>
              <a:t>1. Multi-Step Work Planning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Audits Hydrocracker MAWP (&lt;=150 bar, 140 bar limit) &amp; valve logs against MRPL SOPs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31720"/>
            <a:ext cx="2103120" cy="731520"/>
          </a:xfrm>
          <a:prstGeom prst="roundRect">
            <a:avLst/>
          </a:prstGeom>
          <a:solidFill>
            <a:srgbClr val="FEF08A"/>
          </a:solidFill>
          <a:ln w="127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CA8A04"/>
                </a:solidFill>
              </a:defRPr>
            </a:pPr>
            <a:r>
              <a:t>2. Local Tool Integration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Parses DOCX, Excel telemetry, PDFs, code, &amp; logs locally with zero cloud API dependencies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97680"/>
            <a:ext cx="210312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6A34A"/>
                </a:solidFill>
              </a:defRPr>
            </a:pPr>
            <a:r>
              <a:t>3. Open-Weight Selection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32-model catalog (Coding, DeepSeek-R1, Vision, SOP, 70B) with 1-click streaming pull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5120640"/>
            <a:ext cx="2560320" cy="73152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E7490"/>
                </a:solidFill>
              </a:defRPr>
            </a:pPr>
            <a:r>
              <a:t>4. Scan &amp; Drawing Reasoning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LLaVA-7B &amp; Moondream-1.8B inspect scanned P&amp;ID schematics and equipment gauge dials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297680"/>
            <a:ext cx="201168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D4ED8"/>
                </a:solidFill>
              </a:defRPr>
            </a:pPr>
            <a:r>
              <a:t>5. Verifiable Zero-External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Strict loopback 127.0.0.1; Wireshark confirms zero outbound packets during chat/export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331720"/>
            <a:ext cx="2011680" cy="73152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DB2777"/>
                </a:solidFill>
              </a:defRPr>
            </a:pPr>
            <a:r>
              <a:t>6. VRAM &amp; Process Safety</a:t>
            </a:r>
          </a:p>
          <a:p>
            <a:pPr algn="ctr">
              <a:defRPr sz="650">
                <a:solidFill>
                  <a:srgbClr val="334155"/>
                </a:solidFill>
              </a:defRPr>
            </a:pPr>
            <a:r>
              <a:t>Win32 Job Object (KILL_ON_JOB_CLOSE) + dynamic keep_alive=0 VRAM memory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188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🏛️ [CYLINDER HIERARCHY]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828800"/>
            <a:ext cx="3108960" cy="7772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6A34A"/>
                </a:solidFill>
              </a:defRPr>
            </a:pPr>
            <a:r>
              <a:t>Tier 5: Multimodal Deliverables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Exports styled ReportLab PDF &amp; python-docx notes with executive approval sign-offs to Desktop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697480"/>
            <a:ext cx="3108960" cy="7772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D4ED8"/>
                </a:solidFill>
              </a:defRPr>
            </a:pPr>
            <a:r>
              <a:t>Tier 4: Local Knowledge Base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Grounding in MRPL refinery SOPs, Hydrocracker Unit-4 telemetry, and multi-turn session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566160"/>
            <a:ext cx="3108960" cy="77724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DB2777"/>
                </a:solidFill>
              </a:defRPr>
            </a:pPr>
            <a:r>
              <a:t>Tier 3: Permission-Gated Sandbox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Windows Job Object (0x2000), hidden subprocess execution (CREATE_NO_WINDOW), &amp; orphan cleanup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4434840"/>
            <a:ext cx="3108960" cy="77724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EA580C"/>
                </a:solidFill>
              </a:defRPr>
            </a:pPr>
            <a:r>
              <a:t>Tier 2: Automatic Model Routing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Routes prompt complexity to optimal model (Qwen2.5-Coder for code, DeepSeek-R1 for math/audit)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5303520"/>
            <a:ext cx="3108960" cy="77724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CA8A04"/>
                </a:solidFill>
              </a:defRPr>
            </a:pPr>
            <a:r>
              <a:t>Tier 1: Hardware Recommendation</a:t>
            </a:r>
          </a:p>
          <a:p>
            <a:pPr>
              <a:defRPr sz="700">
                <a:solidFill>
                  <a:srgbClr val="334155"/>
                </a:solidFill>
              </a:defRPr>
            </a:pPr>
            <a:r>
              <a:t>Calculates GPU VRAM/RAM fit (Mem = Params * 0.65 + 0.8 GB) to prevent out-of-memory crashes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4747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2743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|  Mangalore Refinery and Petrochemicals Limited (MRPL)                                 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🏗️ [STACK DIAGRAM] COMPREHENSIVE LOCAL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474720" cy="530352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Layer 1: Client UI (PyWebView):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Lightweight single-file SPA (HTML5/CSS3/JS); 5 luxury themes (Midnight Obsidian, Titanium, Azure, Matrix, Amethyst) + custom palette builder; real-time stop generation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474720" cy="530352"/>
          </a:xfrm>
          <a:prstGeom prst="roundRect">
            <a:avLst/>
          </a:prstGeom>
          <a:solidFill>
            <a:srgbClr val="DCFCE7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15803D"/>
                </a:solidFill>
              </a:defRPr>
            </a:pPr>
            <a:r>
              <a:t>Layer 2: Server (main.py):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Multithreaded TCP Server on port 8085; low-latency REST API + streaming NDJSON progress endpoints; daemon thread dispatch; signal handlers (SIGINT/SIGTERM/SIGBREAK).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34640"/>
            <a:ext cx="3474720" cy="530352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1D4ED8"/>
                </a:solidFill>
              </a:defRPr>
            </a:pPr>
            <a:r>
              <a:t>Layer 3: Guardrail Supervisor: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Win32 Job Object supervisor (0x2000) prevents background zombies; dynamic keep_alive=0 unloads models from VRAM immediately upon model switch or application exit.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3474720" cy="530352"/>
          </a:xfrm>
          <a:prstGeom prst="roundRect">
            <a:avLst/>
          </a:prstGeom>
          <a:solidFill>
            <a:srgbClr val="FEF08A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CA8A04"/>
                </a:solidFill>
              </a:defRPr>
            </a:pPr>
            <a:r>
              <a:t>Layer 4: Tools &amp; Parsing Engine: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Universal parser (DOCX python-docx, Excel openpyxl, PDF, code, logs) &amp; persistent multi-turn JSON session database (data/sessions/sessions.json).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474720" cy="530352"/>
          </a:xfrm>
          <a:prstGeom prst="roundRect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EA580C"/>
                </a:solidFill>
              </a:defRPr>
            </a:pPr>
            <a:r>
              <a:t>Layer 5: Inference Runtime: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Embedded standalone Ollama daemon (port 11434) running GGUF quantized models on CUDA GPU / CPU AVX2, with remote LAN &amp; OpenAI-compatible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3474720" cy="530352"/>
          </a:xfrm>
          <a:prstGeom prst="roundRect">
            <a:avLst/>
          </a:prstGeom>
          <a:solidFill>
            <a:srgbClr val="FCE7F3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DB2777"/>
                </a:solidFill>
              </a:defRPr>
            </a:pPr>
            <a:r>
              <a:t>Layer 6: Air-Gap Isolation: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Hardcoded localhost 127.0.0.1 binding; zero cloud telemetry; direct OS-level desktop document generation and automated application dispatch.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0" y="2926080"/>
            <a:ext cx="1554480" cy="15544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1D4ED8"/>
                </a:solidFill>
              </a:defRPr>
            </a:pPr>
            <a:r>
              <a:t>Unified System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Decoupled server, engine, &amp; storage integrated in a single portable bundle.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🔄 [FLOWCHART] 6-STEP REFINERY INSPECTION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3474720" cy="530352"/>
          </a:xfrm>
          <a:prstGeom prst="roundRect">
            <a:avLst/>
          </a:prstGeom>
          <a:solidFill>
            <a:srgbClr val="DCFCE7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15803D"/>
                </a:solidFill>
              </a:defRPr>
            </a:pPr>
            <a:r>
              <a:t>Step 1: Telemetry &amp; Log Upload: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Operator attaches Hydrocracker logs, Excel sensor data, or P&amp;ID drawings via attachment bar.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3474720" cy="530352"/>
          </a:xfrm>
          <a:prstGeom prst="roundRect">
            <a:avLst/>
          </a:prstGeom>
          <a:solidFill>
            <a:srgbClr val="FEF08A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CA8A04"/>
                </a:solidFill>
              </a:defRPr>
            </a:pPr>
            <a:r>
              <a:t>Step 2: Universal Context Extraction: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Parser extracts operating pressures (142.5 bar), temps (410°C), and valve tags (PSV-102A).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40"/>
            <a:ext cx="3474720" cy="530352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Step 3: Hardware-Guided Model Routing: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Engine matches prompt complexity to optimal installed model (DeepSeek-R1 / Qwen2.5 / Moondream).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3474720" cy="530352"/>
          </a:xfrm>
          <a:prstGeom prst="roundRect">
            <a:avLst/>
          </a:prstGeom>
          <a:solidFill>
            <a:srgbClr val="F3E8FF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9333EA"/>
                </a:solidFill>
              </a:defRPr>
            </a:pPr>
            <a:r>
              <a:t>Step 4: SOP Compliance Reasoner: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LLM audits telemetry against MRPL SOP rules (MAWP &lt;= 150 bar; flags 142.5 bar calibration requirement).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3474720" cy="530352"/>
          </a:xfrm>
          <a:prstGeom prst="roundRect">
            <a:avLst/>
          </a:prstGeom>
          <a:solidFill>
            <a:srgbClr val="FCE7F3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DB2777"/>
                </a:solidFill>
              </a:defRPr>
            </a:pPr>
            <a:r>
              <a:t>Step 5: Guardrail Approval &amp; Formatting: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AI formats structured findings with executive summary, compliance status, &amp; sign-off block.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617720"/>
            <a:ext cx="3474720" cy="530352"/>
          </a:xfrm>
          <a:prstGeom prst="roundRect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80">
                <a:solidFill>
                  <a:srgbClr val="EA580C"/>
                </a:solidFill>
              </a:defRPr>
            </a:pPr>
            <a:r>
              <a:t>Step 6: Desktop Document Dispatch: </a:t>
            </a:r>
          </a:p>
          <a:p>
            <a:pPr>
              <a:defRPr sz="680">
                <a:solidFill>
                  <a:srgbClr val="334155"/>
                </a:solidFill>
              </a:defRPr>
            </a:pPr>
            <a:r>
              <a:t>Builds formatted .docx and styled .pdf documents directly on Desktop and launches in Word/Acrobat.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2926080"/>
            <a:ext cx="1828800" cy="15544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15803D"/>
                </a:solidFill>
              </a:defRPr>
            </a:pPr>
            <a:r>
              <a:t>Comprehensive</a:t>
            </a:r>
            <a:br/>
            <a:r>
              <a:t>Inspection Report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Official MRPL compliance note with full telemetry audit trail &amp; signature block.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IMPLEMENTATION COMPONENTS &amp; INDUSTRIAL INTEGRATION</a:t>
            </a:r>
          </a:p>
          <a:p>
            <a:pPr algn="ctr">
              <a:defRPr sz="800">
                <a:solidFill>
                  <a:srgbClr val="1E293B"/>
                </a:solidFill>
                <a:latin typeface="Arial"/>
              </a:defRPr>
            </a:pPr>
            <a:r>
              <a:t>Agent Harness: Multithreaded Python server (main.py) + sovereign_engine.py | Inference: Embedded Portable Ollama + GGUF Quantized Models (CUDA / CPU AVX2) | Ingestion: python-docx, openpyxl, PDF text extraction | UI: Single-File HTML5/CSS3 SPA in PyWebView (5 Luxury Themes + Custom Palette) | Isolation: Windows Job Object (0x2000) + keep_alive=0 VRAM release + Zero-Egress Loopback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4747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2743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|  Mangalore Refinery and Petrochemicals Limited (MRPL)                                 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📋 [TABLE] FEASIBILITY ON SINGLE WORKSTATION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08760"/>
          <a:ext cx="40233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51760"/>
              </a:tblGrid>
              <a:tr h="94183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0F172A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334155"/>
                          </a:solidFill>
                        </a:defRPr>
                      </a:pPr>
                      <a:r>
                        <a:t>Implementation &amp; Technical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CA8A04"/>
                          </a:solidFill>
                        </a:defRPr>
                      </a:pPr>
                      <a:r>
                        <a:t>Open-Weight Models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750">
                          <a:solidFill>
                            <a:srgbClr val="334155"/>
                          </a:solidFill>
                        </a:defRPr>
                      </a:pPr>
                      <a:r>
                        <a:t>Curated 32-model catalog (0.135B to 70B) covering Qwen2.5-Coder, DeepSeek-R1, Llama-3.2, Gemma-2, Moondream, Mistral, and Codestral.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EA580C"/>
                          </a:solidFill>
                        </a:defRPr>
                      </a:pPr>
                      <a:r>
                        <a:t>Quantized GGUF Models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750">
                          <a:solidFill>
                            <a:srgbClr val="334155"/>
                          </a:solidFill>
                        </a:defRPr>
                      </a:pPr>
                      <a:r>
                        <a:t>4-bit (Q4_K_M) &amp; 8-bit (Q8_0) quantization allows full GPU offload on modest 2GB VRAM cards (Nvidia GT 710) up to multi-GPU servers.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DB2777"/>
                          </a:solidFill>
                        </a:defRPr>
                      </a:pPr>
                      <a:r>
                        <a:t>Embedded Runtime</a:t>
                      </a:r>
                    </a:p>
                  </a:txBody>
                  <a:tcPr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750">
                          <a:solidFill>
                            <a:srgbClr val="334155"/>
                          </a:solidFill>
                        </a:defRPr>
                      </a:pPr>
                      <a:r>
                        <a:t>Standalone embedded Ollama daemon with isolated storage (data/models/); runs with zero administrative rights or external dependencies.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DB2777"/>
                          </a:solidFill>
                        </a:defRPr>
                      </a:pPr>
                      <a:r>
                        <a:t>Portable Data Storage</a:t>
                      </a:r>
                    </a:p>
                  </a:txBody>
                  <a:tcPr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0" sz="750">
                          <a:solidFill>
                            <a:srgbClr val="334155"/>
                          </a:solidFill>
                        </a:defRPr>
                      </a:pPr>
                      <a:r>
                        <a:t>All settings, sessions, models, and exports stored in portable data/ folder packaged in a single ~21MB ZIP archive.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0" y="118872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📈 [STEPPER FLOW] 6-STAGE AGENTIC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08760"/>
            <a:ext cx="1124712" cy="118872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1D4ED8"/>
                </a:solidFill>
              </a:defRPr>
            </a:pPr>
            <a:r>
              <a:t>1. Foundation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Portable EXE + multithreaded server + embedded Ollama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508760"/>
            <a:ext cx="1124712" cy="118872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0E7490"/>
                </a:solidFill>
              </a:defRPr>
            </a:pPr>
            <a:r>
              <a:t>2. Model Layer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Hardware profiler (nvidia-smi) + 32-model hub streaming pull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508760"/>
            <a:ext cx="1124712" cy="1188720"/>
          </a:xfrm>
          <a:prstGeom prst="roundRect">
            <a:avLst/>
          </a:prstGeom>
          <a:solidFill>
            <a:srgbClr val="DCFCE7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15803D"/>
                </a:solidFill>
              </a:defRPr>
            </a:pPr>
            <a:r>
              <a:t>3. Guardrails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Win32 Job Object supervisor + keep_alive=0 dynamic VRAM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1124712" cy="1188720"/>
          </a:xfrm>
          <a:prstGeom prst="roundRect">
            <a:avLst/>
          </a:prstGeom>
          <a:solidFill>
            <a:srgbClr val="FEF08A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CA8A04"/>
                </a:solidFill>
              </a:defRPr>
            </a:pPr>
            <a:r>
              <a:t>4. Agentic Core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Multi-turn session memory + MRPL SOP system prompt grounding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508760"/>
            <a:ext cx="1124712" cy="1188720"/>
          </a:xfrm>
          <a:prstGeom prst="roundRect">
            <a:avLst/>
          </a:prstGeom>
          <a:solidFill>
            <a:srgbClr val="FFEDD5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EA580C"/>
                </a:solidFill>
              </a:defRPr>
            </a:pPr>
            <a:r>
              <a:t>5. Multimodal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DOCX, Excel telemetry, PDF, code, &amp; P&amp;ID diagram parsing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0" y="1508760"/>
            <a:ext cx="1124712" cy="1188720"/>
          </a:xfrm>
          <a:prstGeom prst="roundRect">
            <a:avLst/>
          </a:prstGeom>
          <a:solidFill>
            <a:srgbClr val="FCE7F3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20">
                <a:solidFill>
                  <a:srgbClr val="DB2777"/>
                </a:solidFill>
              </a:defRPr>
            </a:pPr>
            <a:r>
              <a:t>6. Hardening</a:t>
            </a:r>
          </a:p>
          <a:p>
            <a:pPr algn="ctr">
              <a:defRPr sz="620">
                <a:solidFill>
                  <a:srgbClr val="334155"/>
                </a:solidFill>
              </a:defRPr>
            </a:pPr>
            <a:r>
              <a:t>ReportLab PDF &amp; Word export + offline zero-egress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🛡️ [MATRIX] RISK &amp; MITIGATION EVIDENCE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0" y="3154680"/>
          <a:ext cx="43891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08760"/>
                <a:gridCol w="150876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0F172A"/>
                          </a:solidFill>
                        </a:defRPr>
                      </a:pPr>
                      <a:r>
                        <a:t>Identified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Control Implemented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Live Demo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CA8A04"/>
                          </a:solidFill>
                        </a:defRPr>
                      </a:pPr>
                      <a:r>
                        <a:t>Model Exceeds VRAM (OOM)</a:t>
                      </a:r>
                    </a:p>
                  </a:txBody>
                  <a:tcPr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Hardware profiler + formula: Mem = Params * 0.65 + 0.8 GB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Dynamic badges (Optimal, Full GPU, CPU) prevent OOM crashes.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EA580C"/>
                          </a:solidFill>
                        </a:defRPr>
                      </a:pPr>
                      <a:r>
                        <a:t>VRAM Leak / Zombie Tasks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Win32 Job Object (0x2000) + dynamic keep_alive: 0 unloader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Verified via nvidia-smi: exactly 0 MB VRAM retained after exit.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DB2777"/>
                          </a:solidFill>
                        </a:defRPr>
                      </a:pPr>
                      <a:r>
                        <a:t>Cloud Data Leakage</a:t>
                      </a:r>
                    </a:p>
                  </a:txBody>
                  <a:tcPr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Hardcoded loopback (127.0.0.1) with zero external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Wireshark records 0 outbound packets during chat and export.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b="1" sz="750">
                          <a:solidFill>
                            <a:srgbClr val="DB2777"/>
                          </a:solidFill>
                        </a:defRPr>
                      </a:pPr>
                      <a:r>
                        <a:t>Interrupted Downloads</a:t>
                      </a:r>
                    </a:p>
                  </a:txBody>
                  <a:tcPr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NDJSON streaming reader with thread cancellation event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80">
                          <a:solidFill>
                            <a:srgbClr val="334155"/>
                          </a:solidFill>
                        </a:defRPr>
                      </a:pPr>
                      <a:r>
                        <a:t>Live byte progress bar with instant responsive Cancel button.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235440" y="2788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🎯 [RADAR] VALIDATION GATES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154680"/>
            <a:ext cx="256032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6A34A"/>
                </a:solidFill>
              </a:defRPr>
            </a:pPr>
            <a:r>
              <a:t>Gate 5: Exportable Proof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Final Word &amp; PDF approval deliverable on Desktop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776472"/>
            <a:ext cx="2560320" cy="54864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0E7490"/>
                </a:solidFill>
              </a:defRPr>
            </a:pPr>
            <a:r>
              <a:t>Gate 4: End-to-End Agent Task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Full SOP audit of Hydrocracker telemetry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4398264"/>
            <a:ext cx="2560320" cy="54864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1D4ED8"/>
                </a:solidFill>
              </a:defRPr>
            </a:pPr>
            <a:r>
              <a:t>Gate 3: Approved Action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Gated execution &amp; dynamic model switching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5020056"/>
            <a:ext cx="256032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3B82F6"/>
                </a:solidFill>
              </a:defRPr>
            </a:pPr>
            <a:r>
              <a:t>Gate 2: Demonstrated Routing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Hardware memory formula scores 32 models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5641848"/>
            <a:ext cx="2560320" cy="548640"/>
          </a:xfrm>
          <a:prstGeom prst="roundRect">
            <a:avLst/>
          </a:prstGeom>
          <a:solidFill>
            <a:srgbClr val="FEF08A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750">
                <a:solidFill>
                  <a:srgbClr val="CA8A04"/>
                </a:solidFill>
              </a:defRPr>
            </a:pPr>
            <a:r>
              <a:t>Gate 1: Basic Local Answer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Sub-second token generation on local CPU/GPU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4747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2743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|  Mangalore Refinery and Petrochemicals Limited (MRPL)                                 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⚙️ [GEARS PROCESS] 5-STAGE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194560" cy="10515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1D4ED8"/>
                </a:solidFill>
              </a:defRPr>
            </a:pPr>
            <a:r>
              <a:t>1. Route Task Types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Hardware profiler routes coding to Qwen2.5-Coder &amp; audits to DeepSeek-R1 based on VRAM 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645920"/>
            <a:ext cx="2194560" cy="105156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0E7490"/>
                </a:solidFill>
              </a:defRPr>
            </a:pPr>
            <a:r>
              <a:t>2. Act in Sandbox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Python automation &amp; telemetry scripts execute in hidden, permissioned subprocesses (CREATE_NO_WINDOW).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2194560" cy="1051560"/>
          </a:xfrm>
          <a:prstGeom prst="roundRect">
            <a:avLst/>
          </a:prstGeom>
          <a:solidFill>
            <a:srgbClr val="CFFAF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06B6D4"/>
                </a:solidFill>
              </a:defRPr>
            </a:pPr>
            <a:r>
              <a:t>3. Read Report Data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Extracts Hydrocracker telemetry (142.5 bar, 410°C) and P&amp;ID valve tags (PSV-102A) from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663440"/>
            <a:ext cx="2194560" cy="1051560"/>
          </a:xfrm>
          <a:prstGeom prst="roundRect">
            <a:avLst/>
          </a:prstGeom>
          <a:solidFill>
            <a:srgbClr val="FEF08A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CA8A04"/>
                </a:solidFill>
              </a:defRPr>
            </a:pPr>
            <a:r>
              <a:t>4. Deliver Approval Note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Exports formal MRPL compliance note directly to Desktop in styled DOCX/PDF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926080"/>
            <a:ext cx="2194560" cy="10515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850">
                <a:solidFill>
                  <a:srgbClr val="9333EA"/>
                </a:solidFill>
              </a:defRPr>
            </a:pPr>
            <a:r>
              <a:t>5. Prove Zero Egress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Wireshark monitor confirms exactly 0 outbound packets in air-gapped localhost mode.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📊 [STAKEHOLDER MATRIX] BEFORE VS. AFTER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t>• Plant Engineers: Manual log cross-checking (3-4 hrs) → Instant local telemetry ingestion, automated SOP checks, &amp; evidence-backed drafts (5 secs).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t>• Safety Approvers: Multi-day document review cycles → Standardized, auditable compliance notes generated in seconds with signature lines.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t>• IT &amp; Cybersecurity: Severe cloud AI data policy exposure → 100% on-premise air-gapped execution with verifiable zero egress traffic.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Arial"/>
              </a:defRPr>
            </a:pPr>
            <a:r>
              <a:t>• Management: High recurring cloud API subscription fees → Zero recurring costs, portable USB-deployable solution across all plant units.</a:t>
            </a:r>
          </a:p>
          <a:p>
            <a:br/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💡 [VALUE PILLARS] WHY IT MATTERS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100% Confidentiality: Protects proprietary refinery telemetry, P&amp;IDs, tariff calculations, and code by keeping all inference on-device.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10x Productivity: Transforms multi-hour manual reviews into an automated flow that extracts, audits, drafts, and saves final reports.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Total Operator Control: Keeps operators in charge of consequential approvals with structured audit trails, local tools, and process supervisors.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• Universal Hardware: Runs seamlessly on modest 2GB VRAM GPUs (Nvidia GT 710) up to multi-GPU enterprise AI workstations.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37160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950">
                <a:solidFill>
                  <a:srgbClr val="0F172A"/>
                </a:solidFill>
                <a:latin typeface="Arial"/>
              </a:defRPr>
            </a:pPr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34747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F172A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4080" y="274320"/>
            <a:ext cx="2011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SMART INDIA</a:t>
            </a:r>
          </a:p>
          <a:p>
            <a:pPr algn="ctr">
              <a:defRPr sz="11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  <a:p>
            <a:pPr algn="ctr">
              <a:defRPr sz="800" b="1">
                <a:solidFill>
                  <a:srgbClr val="15803D"/>
                </a:solidFill>
                <a:latin typeface="Arial"/>
              </a:defRPr>
            </a:pPr>
            <a:r>
              <a:t>[ SIH26117 | MRPL 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@SIH Idea submission- Template  |  Mangalore Refinery and Petrochemicals Limited (MRPL)                                 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✅ [DEMO SCORECARD] 5 TESTED GATES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173736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0F172A"/>
                </a:solidFill>
                <a:latin typeface="Arial"/>
              </a:defRPr>
            </a:pPr>
            <a:r>
              <a:t>Hardware Recommendation Matches Demo PC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Detects CPU cores, RAM, and GPU VRAM via nvidia-smi to recommend optimal model.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606039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0F172A"/>
                </a:solidFill>
                <a:latin typeface="Arial"/>
              </a:defRPr>
            </a:pPr>
            <a:r>
              <a:t>Model Routing Switches Installed Models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Dynamically routes tasks across 32-model catalog and unloads VRAM via keep_alive=0.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47472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0F172A"/>
                </a:solidFill>
                <a:latin typeface="Arial"/>
              </a:defRPr>
            </a:pPr>
            <a:r>
              <a:t>Agent Reads Scan, Consults SOP, Exports Note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Ingests Hydrocracker telemetry, audits MAWP limits, and writes Word note to Desktop.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4343400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9767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0F172A"/>
                </a:solidFill>
                <a:latin typeface="Arial"/>
              </a:defRPr>
            </a:pPr>
            <a:r>
              <a:t>Sandboxed Subprocess Runs Safely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Windows Job Object (0x2000) supervises subprocesses with CREATE_NO_WINDOW.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5212079"/>
            <a:ext cx="292608" cy="292608"/>
          </a:xfrm>
          <a:prstGeom prst="ellipse">
            <a:avLst/>
          </a:prstGeom>
          <a:solidFill>
            <a:srgbClr val="16A34A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 b="1">
                <a:solidFill>
                  <a:srgbClr val="0F172A"/>
                </a:solidFill>
                <a:latin typeface="Arial"/>
              </a:defRPr>
            </a:pPr>
            <a:r>
              <a:t>Strict-Mode Monitor Proves 0 Outbound Calls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Wireshark and network telemetry confirm 100% air-gapped localhost loopback operation.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2344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🗺️ [ROADMAP GRID] 10-STAGE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737360"/>
            <a:ext cx="1353312" cy="160020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1. Scope (SIH26117)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Air-gapped, multimodal, multi-model AI workbench for MRPL.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737360"/>
            <a:ext cx="1353312" cy="160020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1D4ED8"/>
                </a:solidFill>
              </a:defRPr>
            </a:pPr>
            <a:r>
              <a:t>2. Architecture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Portable single-file EXE with decoupled TCP server &amp; SPA.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737360"/>
            <a:ext cx="1353312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3B82F6"/>
                </a:solidFill>
              </a:defRPr>
            </a:pPr>
            <a:r>
              <a:t>3. Embedded Engine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Bundled Ollama daemon with isolated OLLAMA_MODELS storage.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737360"/>
            <a:ext cx="1353312" cy="160020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4. File Ingestion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Native python-docx, openpyxl, PDF &amp; diagram text extractors.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737360"/>
            <a:ext cx="1353312" cy="160020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1D4ED8"/>
                </a:solidFill>
              </a:defRPr>
            </a:pPr>
            <a:r>
              <a:t>5. Strict Air-Gap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Hardcoded loopback 127.0.0.1 with zero outbound network calls.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520440"/>
            <a:ext cx="1353312" cy="160020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6. Hardware Scoring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Memory formula scoring with dynamic visual fit badges.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520440"/>
            <a:ext cx="1353312" cy="160020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1D4ED8"/>
                </a:solidFill>
              </a:defRPr>
            </a:pPr>
            <a:r>
              <a:t>7. 32-Model Hub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Categorized catalog with 1-click download &amp; live progress.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520440"/>
            <a:ext cx="1353312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3B82F6"/>
                </a:solidFill>
              </a:defRPr>
            </a:pPr>
            <a:r>
              <a:t>8. VRAM Guard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Win32 Job Object supervisor &amp; dynamic keep_alive=0 unloader.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520440"/>
            <a:ext cx="1353312" cy="160020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0E7490"/>
                </a:solidFill>
              </a:defRPr>
            </a:pPr>
            <a:r>
              <a:t>9. Document Engine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ReportLab PDF formatting &amp; direct desktop Word dispatch.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3520440"/>
            <a:ext cx="1353312" cy="1600200"/>
          </a:xfrm>
          <a:prstGeom prst="roundRect">
            <a:avLst/>
          </a:prstGeom>
          <a:solidFill>
            <a:srgbClr val="DBEA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780">
                <a:solidFill>
                  <a:srgbClr val="1D4ED8"/>
                </a:solidFill>
              </a:defRPr>
            </a:pPr>
            <a:r>
              <a:t>10. Luxury SPA UI</a:t>
            </a:r>
          </a:p>
          <a:p>
            <a:pPr algn="ctr">
              <a:defRPr sz="680">
                <a:solidFill>
                  <a:srgbClr val="334155"/>
                </a:solidFill>
              </a:defRPr>
            </a:pPr>
            <a:r>
              <a:t>5 preset themes, custom palette builder, &amp; stop response button.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64748B"/>
                </a:solidFill>
                <a:latin typeface="Arial"/>
              </a:defRPr>
            </a:pPr>
            <a:r>
              <a:t>URLs: sih.gov.in/sih2026PS (SIH26117) | github.com/ollama/ollama | github.com/reportlab/reportlab | github.com/python-openxml/python-docx | github.com/qwenlm/Qwen2.5 | github.com/deepseek-ai/DeepSeek-R1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